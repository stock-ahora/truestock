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7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jpeg" Type="http://schemas.openxmlformats.org/officeDocument/2006/relationships/image"/><Relationship Id="rId9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9ll783ij6lm4.cloudfront.net" TargetMode="External" Type="http://schemas.openxmlformats.org/officeDocument/2006/relationships/hyperlink"/><Relationship Id="rId3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491413" y="5143500"/>
            <a:ext cx="7176295" cy="6471713"/>
          </a:xfrm>
          <a:custGeom>
            <a:avLst/>
            <a:gdLst/>
            <a:ahLst/>
            <a:cxnLst/>
            <a:rect r="r" b="b" t="t" l="l"/>
            <a:pathLst>
              <a:path h="6471713" w="7176295">
                <a:moveTo>
                  <a:pt x="7176294" y="0"/>
                </a:moveTo>
                <a:lnTo>
                  <a:pt x="0" y="0"/>
                </a:lnTo>
                <a:lnTo>
                  <a:pt x="0" y="6471713"/>
                </a:lnTo>
                <a:lnTo>
                  <a:pt x="7176294" y="6471713"/>
                </a:lnTo>
                <a:lnTo>
                  <a:pt x="71762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931" y="1774682"/>
            <a:ext cx="10547062" cy="177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7"/>
              </a:lnSpc>
            </a:pPr>
            <a:r>
              <a:rPr lang="en-US" sz="12349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TrueStock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6419" y="1384157"/>
            <a:ext cx="705199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Capstone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603253"/>
            <a:ext cx="31099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Presentadores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0451" y="6603253"/>
            <a:ext cx="310991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Daniel Martinez</a:t>
            </a:r>
          </a:p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Augusto Pfeifer</a:t>
            </a:r>
          </a:p>
          <a:p>
            <a:pPr algn="l">
              <a:lnSpc>
                <a:spcPts val="4200"/>
              </a:lnSpc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Willians Briones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Sergio Mellado</a:t>
            </a:r>
          </a:p>
        </p:txBody>
      </p:sp>
      <p:sp>
        <p:nvSpPr>
          <p:cNvPr name="AutoShape 7" id="7"/>
          <p:cNvSpPr/>
          <p:nvPr/>
        </p:nvSpPr>
        <p:spPr>
          <a:xfrm>
            <a:off x="3827656" y="6576291"/>
            <a:ext cx="0" cy="625423"/>
          </a:xfrm>
          <a:prstGeom prst="line">
            <a:avLst/>
          </a:prstGeom>
          <a:ln cap="flat" w="38100">
            <a:solidFill>
              <a:srgbClr val="F6F6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23798" y="3568373"/>
            <a:ext cx="9703217" cy="48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3342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Gestión Inteligente de Inventario para Pymes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188" y="8743950"/>
            <a:ext cx="31099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12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13-11-2025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594354" y="3013690"/>
            <a:ext cx="4675413" cy="4675413"/>
          </a:xfrm>
          <a:custGeom>
            <a:avLst/>
            <a:gdLst/>
            <a:ahLst/>
            <a:cxnLst/>
            <a:rect r="r" b="b" t="t" l="l"/>
            <a:pathLst>
              <a:path h="4675413" w="4675413">
                <a:moveTo>
                  <a:pt x="0" y="0"/>
                </a:moveTo>
                <a:lnTo>
                  <a:pt x="4675413" y="0"/>
                </a:lnTo>
                <a:lnTo>
                  <a:pt x="4675413" y="4675413"/>
                </a:lnTo>
                <a:lnTo>
                  <a:pt x="0" y="4675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2926" y="9156052"/>
            <a:ext cx="19468836" cy="1483127"/>
            <a:chOff x="0" y="0"/>
            <a:chExt cx="7102284" cy="541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2284" cy="541049"/>
            </a:xfrm>
            <a:custGeom>
              <a:avLst/>
              <a:gdLst/>
              <a:ahLst/>
              <a:cxnLst/>
              <a:rect r="r" b="b" t="t" l="l"/>
              <a:pathLst>
                <a:path h="541049" w="7102284">
                  <a:moveTo>
                    <a:pt x="0" y="0"/>
                  </a:moveTo>
                  <a:lnTo>
                    <a:pt x="7102284" y="0"/>
                  </a:lnTo>
                  <a:lnTo>
                    <a:pt x="7102284" y="541049"/>
                  </a:lnTo>
                  <a:lnTo>
                    <a:pt x="0" y="541049"/>
                  </a:lnTo>
                  <a:close/>
                </a:path>
              </a:pathLst>
            </a:custGeom>
            <a:solidFill>
              <a:srgbClr val="5180C6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504835" y="724584"/>
            <a:ext cx="7179411" cy="9558446"/>
            <a:chOff x="0" y="0"/>
            <a:chExt cx="3663950" cy="4878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-91076" t="0" r="-925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F6F6F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65615" y="1160149"/>
            <a:ext cx="8766990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0634" y="6963744"/>
            <a:ext cx="349251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 Propuesta de la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 Solución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6097" y="4037779"/>
            <a:ext cx="23694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Tecnologias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634" y="2971052"/>
            <a:ext cx="324954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Contexto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35633" y="5479431"/>
            <a:ext cx="34406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Alcance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8569" y="2639273"/>
            <a:ext cx="1058912" cy="11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5301" y="6803406"/>
            <a:ext cx="1098649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569" y="4026731"/>
            <a:ext cx="1058912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60448" y="2315803"/>
            <a:ext cx="1098649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362" y="5415931"/>
            <a:ext cx="1211588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5400000">
            <a:off x="15257068" y="5875213"/>
            <a:ext cx="488746" cy="8044805"/>
            <a:chOff x="0" y="0"/>
            <a:chExt cx="128723" cy="21187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723" cy="2118796"/>
            </a:xfrm>
            <a:custGeom>
              <a:avLst/>
              <a:gdLst/>
              <a:ahLst/>
              <a:cxnLst/>
              <a:rect r="r" b="b" t="t" l="l"/>
              <a:pathLst>
                <a:path h="2118796" w="128723">
                  <a:moveTo>
                    <a:pt x="0" y="0"/>
                  </a:moveTo>
                  <a:lnTo>
                    <a:pt x="128723" y="0"/>
                  </a:lnTo>
                  <a:lnTo>
                    <a:pt x="128723" y="2118796"/>
                  </a:lnTo>
                  <a:lnTo>
                    <a:pt x="0" y="2118796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8723" cy="2166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1671647" y="8128833"/>
            <a:ext cx="488746" cy="3827589"/>
            <a:chOff x="0" y="0"/>
            <a:chExt cx="128723" cy="10080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723" cy="1008089"/>
            </a:xfrm>
            <a:custGeom>
              <a:avLst/>
              <a:gdLst/>
              <a:ahLst/>
              <a:cxnLst/>
              <a:rect r="r" b="b" t="t" l="l"/>
              <a:pathLst>
                <a:path h="1008089" w="128723">
                  <a:moveTo>
                    <a:pt x="0" y="0"/>
                  </a:moveTo>
                  <a:lnTo>
                    <a:pt x="128723" y="0"/>
                  </a:lnTo>
                  <a:lnTo>
                    <a:pt x="128723" y="1008089"/>
                  </a:lnTo>
                  <a:lnTo>
                    <a:pt x="0" y="1008089"/>
                  </a:lnTo>
                  <a:close/>
                </a:path>
              </a:pathLst>
            </a:custGeom>
            <a:solidFill>
              <a:srgbClr val="A1CC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8723" cy="1055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60634" y="4349391"/>
            <a:ext cx="324954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Objetivos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6097" y="6827150"/>
            <a:ext cx="41612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Experiencia TrueStock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3498" y="3705991"/>
            <a:ext cx="1272549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06844" y="5093466"/>
            <a:ext cx="133920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46097" y="2437652"/>
            <a:ext cx="324954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Componentes claves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06844" y="6480941"/>
            <a:ext cx="133920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06844" y="7790831"/>
            <a:ext cx="133920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46097" y="5425254"/>
            <a:ext cx="41612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Diagrama BPMN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46097" y="8122619"/>
            <a:ext cx="41612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1009" y="-279763"/>
            <a:ext cx="8125983" cy="1308463"/>
            <a:chOff x="0" y="0"/>
            <a:chExt cx="3904848" cy="628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4848" cy="628767"/>
            </a:xfrm>
            <a:custGeom>
              <a:avLst/>
              <a:gdLst/>
              <a:ahLst/>
              <a:cxnLst/>
              <a:rect r="r" b="b" t="t" l="l"/>
              <a:pathLst>
                <a:path h="628767" w="3904848">
                  <a:moveTo>
                    <a:pt x="0" y="0"/>
                  </a:moveTo>
                  <a:lnTo>
                    <a:pt x="3904848" y="0"/>
                  </a:lnTo>
                  <a:lnTo>
                    <a:pt x="3904848" y="628767"/>
                  </a:lnTo>
                  <a:lnTo>
                    <a:pt x="0" y="62876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0001" y="8933988"/>
            <a:ext cx="13442542" cy="85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9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Consecuencias:</a:t>
            </a:r>
            <a:r>
              <a:rPr lang="en-US" sz="29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Quiebres de stock, pérdidas económicas, retrasos en entregas y pérdida de confianza del cliente.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4289566" y="-1230056"/>
            <a:ext cx="6356817" cy="5732693"/>
          </a:xfrm>
          <a:custGeom>
            <a:avLst/>
            <a:gdLst/>
            <a:ahLst/>
            <a:cxnLst/>
            <a:rect r="r" b="b" t="t" l="l"/>
            <a:pathLst>
              <a:path h="5732693" w="6356817">
                <a:moveTo>
                  <a:pt x="6356817" y="5732693"/>
                </a:moveTo>
                <a:lnTo>
                  <a:pt x="0" y="5732693"/>
                </a:lnTo>
                <a:lnTo>
                  <a:pt x="0" y="0"/>
                </a:lnTo>
                <a:lnTo>
                  <a:pt x="6356817" y="0"/>
                </a:lnTo>
                <a:lnTo>
                  <a:pt x="6356817" y="57326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3405" y="2801028"/>
            <a:ext cx="4401008" cy="2342472"/>
          </a:xfrm>
          <a:custGeom>
            <a:avLst/>
            <a:gdLst/>
            <a:ahLst/>
            <a:cxnLst/>
            <a:rect r="r" b="b" t="t" l="l"/>
            <a:pathLst>
              <a:path h="2342472" w="4401008">
                <a:moveTo>
                  <a:pt x="0" y="0"/>
                </a:moveTo>
                <a:lnTo>
                  <a:pt x="4401007" y="0"/>
                </a:lnTo>
                <a:lnTo>
                  <a:pt x="4401007" y="2342472"/>
                </a:lnTo>
                <a:lnTo>
                  <a:pt x="0" y="2342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106203" y="3299674"/>
            <a:ext cx="4288502" cy="3687653"/>
          </a:xfrm>
          <a:custGeom>
            <a:avLst/>
            <a:gdLst/>
            <a:ahLst/>
            <a:cxnLst/>
            <a:rect r="r" b="b" t="t" l="l"/>
            <a:pathLst>
              <a:path h="3687653" w="4288502">
                <a:moveTo>
                  <a:pt x="0" y="0"/>
                </a:moveTo>
                <a:lnTo>
                  <a:pt x="4288502" y="0"/>
                </a:lnTo>
                <a:lnTo>
                  <a:pt x="4288502" y="3687652"/>
                </a:lnTo>
                <a:lnTo>
                  <a:pt x="0" y="3687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492575" y="4675605"/>
            <a:ext cx="4766725" cy="3389488"/>
          </a:xfrm>
          <a:custGeom>
            <a:avLst/>
            <a:gdLst/>
            <a:ahLst/>
            <a:cxnLst/>
            <a:rect r="r" b="b" t="t" l="l"/>
            <a:pathLst>
              <a:path h="3389488" w="4766725">
                <a:moveTo>
                  <a:pt x="0" y="0"/>
                </a:moveTo>
                <a:lnTo>
                  <a:pt x="4766725" y="0"/>
                </a:lnTo>
                <a:lnTo>
                  <a:pt x="4766725" y="3389488"/>
                </a:lnTo>
                <a:lnTo>
                  <a:pt x="0" y="338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93295" y="150495"/>
            <a:ext cx="4501410" cy="89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5"/>
              </a:lnSpc>
            </a:pPr>
            <a:r>
              <a:rPr lang="en-US" b="true" sz="6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115" y="1579141"/>
            <a:ext cx="86958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¿Porqué quiebran las Pymes a nivel nacional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6058" y="7271645"/>
            <a:ext cx="86958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Procesos obsoletos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265846" y="5676900"/>
            <a:ext cx="8859508" cy="52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  <a:spcBef>
                <a:spcPct val="0"/>
              </a:spcBef>
            </a:pPr>
            <a:r>
              <a:rPr lang="en-US" sz="30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Falta de control de inventarios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0324" y="8204266"/>
            <a:ext cx="86958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Visualización en tiempo real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81009" y="-279763"/>
            <a:ext cx="7926994" cy="1308463"/>
            <a:chOff x="0" y="0"/>
            <a:chExt cx="3809226" cy="628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26" cy="628767"/>
            </a:xfrm>
            <a:custGeom>
              <a:avLst/>
              <a:gdLst/>
              <a:ahLst/>
              <a:cxnLst/>
              <a:rect r="r" b="b" t="t" l="l"/>
              <a:pathLst>
                <a:path h="628767" w="3809226">
                  <a:moveTo>
                    <a:pt x="0" y="0"/>
                  </a:moveTo>
                  <a:lnTo>
                    <a:pt x="3809226" y="0"/>
                  </a:lnTo>
                  <a:lnTo>
                    <a:pt x="3809226" y="628767"/>
                  </a:lnTo>
                  <a:lnTo>
                    <a:pt x="0" y="62876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57204" y="-62895"/>
            <a:ext cx="5173591" cy="10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9"/>
              </a:lnSpc>
            </a:pPr>
            <a:r>
              <a:rPr lang="en-US" b="true" sz="6292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21" y="3193471"/>
            <a:ext cx="8065729" cy="434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578" indent="-377789" lvl="1">
              <a:lnSpc>
                <a:spcPts val="5844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Desarrollar un sistema inteligente para la gestión automatizada de facturas y control de stock en PYMEs mediante tecnologías de inteligencia artificial y análisis predictivo.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8312540" y="1974774"/>
            <a:ext cx="19050" cy="7759849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790237" y="1123797"/>
            <a:ext cx="2985083" cy="67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9"/>
              </a:lnSpc>
            </a:pPr>
            <a:r>
              <a:rPr lang="en-US" b="true" sz="3992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22154" y="1123797"/>
            <a:ext cx="3171697" cy="67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9"/>
              </a:lnSpc>
            </a:pPr>
            <a:r>
              <a:rPr lang="en-US" b="true" sz="399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Especifico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50665" y="1841378"/>
            <a:ext cx="10034819" cy="821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Implemencion de un módulo de escaneo </a:t>
            </a:r>
          </a:p>
          <a:p>
            <a:pPr algn="l">
              <a:lnSpc>
                <a:spcPts val="5021"/>
              </a:lnSpc>
            </a:pPr>
            <a:r>
              <a:rPr lang="en-US" sz="3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y extracción de datos.</a:t>
            </a:r>
          </a:p>
          <a:p>
            <a:pPr algn="l">
              <a:lnSpc>
                <a:spcPts val="5021"/>
              </a:lnSpc>
            </a:pPr>
          </a:p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e integración de un sistema de alertas de</a:t>
            </a:r>
          </a:p>
          <a:p>
            <a:pPr algn="l">
              <a:lnSpc>
                <a:spcPts val="5021"/>
              </a:lnSpc>
            </a:pPr>
            <a:r>
              <a:rPr lang="en-US" sz="3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quiebres de Stock.</a:t>
            </a:r>
          </a:p>
          <a:p>
            <a:pPr algn="l">
              <a:lnSpc>
                <a:spcPts val="5021"/>
              </a:lnSpc>
            </a:pPr>
          </a:p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Desarrollo de un ChatBot.</a:t>
            </a:r>
          </a:p>
          <a:p>
            <a:pPr algn="l">
              <a:lnSpc>
                <a:spcPts val="5021"/>
              </a:lnSpc>
            </a:pPr>
          </a:p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Creación de  un dashboard de trazabilidad.</a:t>
            </a:r>
          </a:p>
          <a:p>
            <a:pPr algn="l">
              <a:lnSpc>
                <a:spcPts val="5021"/>
              </a:lnSpc>
            </a:pPr>
          </a:p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 de modelos predictivos.</a:t>
            </a:r>
          </a:p>
          <a:p>
            <a:pPr algn="l">
              <a:lnSpc>
                <a:spcPts val="5021"/>
              </a:lnSpc>
            </a:pPr>
          </a:p>
          <a:p>
            <a:pPr algn="l" marL="649144" indent="-324572" lvl="1">
              <a:lnSpc>
                <a:spcPts val="5021"/>
              </a:lnSpc>
              <a:buFont typeface="Arial"/>
              <a:buChar char="•"/>
            </a:pPr>
            <a:r>
              <a:rPr lang="en-US" b="true" sz="30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Evaluacion de  la funcionalidad y precisión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15409" y="0"/>
            <a:ext cx="7662818" cy="1146134"/>
            <a:chOff x="0" y="0"/>
            <a:chExt cx="3682280" cy="550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2280" cy="550762"/>
            </a:xfrm>
            <a:custGeom>
              <a:avLst/>
              <a:gdLst/>
              <a:ahLst/>
              <a:cxnLst/>
              <a:rect r="r" b="b" t="t" l="l"/>
              <a:pathLst>
                <a:path h="550762" w="3682280">
                  <a:moveTo>
                    <a:pt x="0" y="0"/>
                  </a:moveTo>
                  <a:lnTo>
                    <a:pt x="3682280" y="0"/>
                  </a:lnTo>
                  <a:lnTo>
                    <a:pt x="3682280" y="550762"/>
                  </a:lnTo>
                  <a:lnTo>
                    <a:pt x="0" y="550762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73671" y="2412463"/>
            <a:ext cx="6432886" cy="6035216"/>
          </a:xfrm>
          <a:custGeom>
            <a:avLst/>
            <a:gdLst/>
            <a:ahLst/>
            <a:cxnLst/>
            <a:rect r="r" b="b" t="t" l="l"/>
            <a:pathLst>
              <a:path h="6035216" w="6432886">
                <a:moveTo>
                  <a:pt x="0" y="0"/>
                </a:moveTo>
                <a:lnTo>
                  <a:pt x="6432886" y="0"/>
                </a:lnTo>
                <a:lnTo>
                  <a:pt x="6432886" y="6035217"/>
                </a:lnTo>
                <a:lnTo>
                  <a:pt x="0" y="6035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07882" y="3134"/>
            <a:ext cx="9272235" cy="275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3"/>
              </a:lnSpc>
            </a:pPr>
            <a:r>
              <a:rPr lang="en-US" sz="6045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Alcance</a:t>
            </a:r>
          </a:p>
          <a:p>
            <a:pPr algn="l">
              <a:lnSpc>
                <a:spcPts val="6783"/>
              </a:lnSpc>
            </a:pPr>
          </a:p>
          <a:p>
            <a:pPr algn="l">
              <a:lnSpc>
                <a:spcPts val="67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32934" y="984209"/>
            <a:ext cx="8764951" cy="87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sz="367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INCLUYE</a:t>
            </a:r>
          </a:p>
          <a:p>
            <a:pPr algn="l">
              <a:lnSpc>
                <a:spcPts val="5308"/>
              </a:lnSpc>
            </a:pPr>
          </a:p>
          <a:p>
            <a:pPr algn="l" marL="686251" indent="-343126" lvl="1">
              <a:lnSpc>
                <a:spcPts val="5308"/>
              </a:lnSpc>
              <a:buFont typeface="Arial"/>
              <a:buChar char="•"/>
            </a:pPr>
            <a:r>
              <a:rPr lang="en-US" b="true" sz="317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Plataforma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Aplicación Web Responsive (Mob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le-F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rst).</a:t>
            </a:r>
          </a:p>
          <a:p>
            <a:pPr algn="l">
              <a:lnSpc>
                <a:spcPts val="5308"/>
              </a:lnSpc>
            </a:pPr>
          </a:p>
          <a:p>
            <a:pPr algn="l" marL="686251" indent="-343126" lvl="1">
              <a:lnSpc>
                <a:spcPts val="5308"/>
              </a:lnSpc>
              <a:buFont typeface="Arial"/>
              <a:buChar char="•"/>
            </a:pPr>
            <a:r>
              <a:rPr lang="en-US" b="true" sz="317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Funcionalidades: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Gestión de Inventario, Ingesta de facturas (OCR), Alertas de Stock, Dashboard analítico y Chatbot (IA).</a:t>
            </a:r>
          </a:p>
          <a:p>
            <a:pPr algn="l">
              <a:lnSpc>
                <a:spcPts val="5308"/>
              </a:lnSpc>
            </a:pPr>
          </a:p>
          <a:p>
            <a:pPr algn="l" marL="686251" indent="-343126" lvl="1">
              <a:lnSpc>
                <a:spcPts val="5308"/>
              </a:lnSpc>
              <a:buFont typeface="Arial"/>
              <a:buChar char="•"/>
            </a:pPr>
            <a:r>
              <a:rPr lang="en-US" b="true" sz="317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Mercado: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PYMEs en Chile.</a:t>
            </a:r>
          </a:p>
          <a:p>
            <a:pPr algn="l">
              <a:lnSpc>
                <a:spcPts val="5308"/>
              </a:lnSpc>
            </a:pPr>
          </a:p>
          <a:p>
            <a:pPr algn="l" marL="686251" indent="-343126" lvl="1">
              <a:lnSpc>
                <a:spcPts val="5308"/>
              </a:lnSpc>
              <a:buFont typeface="Arial"/>
              <a:buChar char="•"/>
            </a:pPr>
            <a:r>
              <a:rPr lang="en-US" b="true" sz="317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Idioma:</a:t>
            </a:r>
            <a:r>
              <a:rPr lang="en-US" sz="31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Español.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3217" y="7762505"/>
            <a:ext cx="3082003" cy="1630731"/>
          </a:xfrm>
          <a:custGeom>
            <a:avLst/>
            <a:gdLst/>
            <a:ahLst/>
            <a:cxnLst/>
            <a:rect r="r" b="b" t="t" l="l"/>
            <a:pathLst>
              <a:path h="1630731" w="3082003">
                <a:moveTo>
                  <a:pt x="0" y="0"/>
                </a:moveTo>
                <a:lnTo>
                  <a:pt x="3082003" y="0"/>
                </a:lnTo>
                <a:lnTo>
                  <a:pt x="3082003" y="1630731"/>
                </a:lnTo>
                <a:lnTo>
                  <a:pt x="0" y="163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613595" y="7784812"/>
            <a:ext cx="2975440" cy="1473488"/>
          </a:xfrm>
          <a:custGeom>
            <a:avLst/>
            <a:gdLst/>
            <a:ahLst/>
            <a:cxnLst/>
            <a:rect r="r" b="b" t="t" l="l"/>
            <a:pathLst>
              <a:path h="1473488" w="2975440">
                <a:moveTo>
                  <a:pt x="0" y="0"/>
                </a:moveTo>
                <a:lnTo>
                  <a:pt x="2975440" y="0"/>
                </a:lnTo>
                <a:lnTo>
                  <a:pt x="2975440" y="1473488"/>
                </a:lnTo>
                <a:lnTo>
                  <a:pt x="0" y="147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48" r="0" b="-224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064291"/>
            <a:ext cx="3313231" cy="1630731"/>
          </a:xfrm>
          <a:custGeom>
            <a:avLst/>
            <a:gdLst/>
            <a:ahLst/>
            <a:cxnLst/>
            <a:rect r="r" b="b" t="t" l="l"/>
            <a:pathLst>
              <a:path h="1630731" w="3313231">
                <a:moveTo>
                  <a:pt x="0" y="0"/>
                </a:moveTo>
                <a:lnTo>
                  <a:pt x="3313231" y="0"/>
                </a:lnTo>
                <a:lnTo>
                  <a:pt x="3313231" y="1630731"/>
                </a:lnTo>
                <a:lnTo>
                  <a:pt x="0" y="163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426334" y="5296731"/>
            <a:ext cx="3435332" cy="1932374"/>
          </a:xfrm>
          <a:custGeom>
            <a:avLst/>
            <a:gdLst/>
            <a:ahLst/>
            <a:cxnLst/>
            <a:rect r="r" b="b" t="t" l="l"/>
            <a:pathLst>
              <a:path h="1932374" w="3435332">
                <a:moveTo>
                  <a:pt x="0" y="0"/>
                </a:moveTo>
                <a:lnTo>
                  <a:pt x="3435332" y="0"/>
                </a:lnTo>
                <a:lnTo>
                  <a:pt x="3435332" y="1932374"/>
                </a:lnTo>
                <a:lnTo>
                  <a:pt x="0" y="1932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305" y="2112032"/>
            <a:ext cx="3753916" cy="2427682"/>
          </a:xfrm>
          <a:custGeom>
            <a:avLst/>
            <a:gdLst/>
            <a:ahLst/>
            <a:cxnLst/>
            <a:rect r="r" b="b" t="t" l="l"/>
            <a:pathLst>
              <a:path h="2427682" w="3753916">
                <a:moveTo>
                  <a:pt x="0" y="0"/>
                </a:moveTo>
                <a:lnTo>
                  <a:pt x="3753915" y="0"/>
                </a:lnTo>
                <a:lnTo>
                  <a:pt x="3753915" y="2427682"/>
                </a:lnTo>
                <a:lnTo>
                  <a:pt x="0" y="242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3" t="-4444" r="-1467" b="-187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65918" y="3790639"/>
            <a:ext cx="2367642" cy="1040847"/>
          </a:xfrm>
          <a:custGeom>
            <a:avLst/>
            <a:gdLst/>
            <a:ahLst/>
            <a:cxnLst/>
            <a:rect r="r" b="b" t="t" l="l"/>
            <a:pathLst>
              <a:path h="1040847" w="2367642">
                <a:moveTo>
                  <a:pt x="0" y="0"/>
                </a:moveTo>
                <a:lnTo>
                  <a:pt x="2367641" y="0"/>
                </a:lnTo>
                <a:lnTo>
                  <a:pt x="2367641" y="1040848"/>
                </a:lnTo>
                <a:lnTo>
                  <a:pt x="0" y="1040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290" t="-28334" r="-7209" b="-2575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65918" y="1961086"/>
            <a:ext cx="2367642" cy="1212950"/>
          </a:xfrm>
          <a:custGeom>
            <a:avLst/>
            <a:gdLst/>
            <a:ahLst/>
            <a:cxnLst/>
            <a:rect r="r" b="b" t="t" l="l"/>
            <a:pathLst>
              <a:path h="1212950" w="2367642">
                <a:moveTo>
                  <a:pt x="0" y="0"/>
                </a:moveTo>
                <a:lnTo>
                  <a:pt x="2367641" y="0"/>
                </a:lnTo>
                <a:lnTo>
                  <a:pt x="2367641" y="1212950"/>
                </a:lnTo>
                <a:lnTo>
                  <a:pt x="0" y="1212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540" r="0" b="-254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68916" y="-48252"/>
            <a:ext cx="6350167" cy="1076952"/>
            <a:chOff x="0" y="0"/>
            <a:chExt cx="3707477" cy="628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07477" cy="628767"/>
            </a:xfrm>
            <a:custGeom>
              <a:avLst/>
              <a:gdLst/>
              <a:ahLst/>
              <a:cxnLst/>
              <a:rect r="r" b="b" t="t" l="l"/>
              <a:pathLst>
                <a:path h="628767" w="3707477">
                  <a:moveTo>
                    <a:pt x="0" y="0"/>
                  </a:moveTo>
                  <a:lnTo>
                    <a:pt x="3707477" y="0"/>
                  </a:lnTo>
                  <a:lnTo>
                    <a:pt x="3707477" y="628767"/>
                  </a:lnTo>
                  <a:lnTo>
                    <a:pt x="0" y="62876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4356885" y="-4192506"/>
            <a:ext cx="6356817" cy="5732693"/>
          </a:xfrm>
          <a:custGeom>
            <a:avLst/>
            <a:gdLst/>
            <a:ahLst/>
            <a:cxnLst/>
            <a:rect r="r" b="b" t="t" l="l"/>
            <a:pathLst>
              <a:path h="5732693" w="6356817">
                <a:moveTo>
                  <a:pt x="6356818" y="0"/>
                </a:moveTo>
                <a:lnTo>
                  <a:pt x="0" y="0"/>
                </a:lnTo>
                <a:lnTo>
                  <a:pt x="0" y="5732693"/>
                </a:lnTo>
                <a:lnTo>
                  <a:pt x="6356818" y="5732693"/>
                </a:lnTo>
                <a:lnTo>
                  <a:pt x="635681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31430" y="6250420"/>
            <a:ext cx="2327870" cy="1627743"/>
          </a:xfrm>
          <a:custGeom>
            <a:avLst/>
            <a:gdLst/>
            <a:ahLst/>
            <a:cxnLst/>
            <a:rect r="r" b="b" t="t" l="l"/>
            <a:pathLst>
              <a:path h="1627743" w="2327870">
                <a:moveTo>
                  <a:pt x="0" y="0"/>
                </a:moveTo>
                <a:lnTo>
                  <a:pt x="2327870" y="0"/>
                </a:lnTo>
                <a:lnTo>
                  <a:pt x="2327870" y="1627742"/>
                </a:lnTo>
                <a:lnTo>
                  <a:pt x="0" y="16277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159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3" id="13"/>
          <p:cNvSpPr txBox="true"/>
          <p:nvPr/>
        </p:nvSpPr>
        <p:spPr>
          <a:xfrm rot="0">
            <a:off x="6926699" y="60577"/>
            <a:ext cx="5392385" cy="88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1"/>
              </a:lnSpc>
            </a:pPr>
            <a:r>
              <a:rPr lang="en-US" b="true" sz="60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602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Propuesta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55" y="8961904"/>
            <a:ext cx="5084922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el escaneo de facturas (OCR).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01818" y="9588498"/>
            <a:ext cx="382107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Potenciador del Chatbot.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63780" y="9412286"/>
            <a:ext cx="3893106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roker de mensajería para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desacoplar los servicios.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31360" y="7997030"/>
            <a:ext cx="3128010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 la base de datos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transaccional.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1281" y="3865120"/>
            <a:ext cx="10247966" cy="90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b="true" sz="306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Microservicios : </a:t>
            </a:r>
            <a:r>
              <a:rPr lang="en-US" sz="30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(API Movimientos, API Stock) comunicados asíncronamente.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40034" y="2140607"/>
            <a:ext cx="10197175" cy="8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  <a:spcBef>
                <a:spcPct val="0"/>
              </a:spcBef>
            </a:pPr>
            <a:r>
              <a:rPr lang="en-US" b="true" sz="309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Plataforma Única:  </a:t>
            </a:r>
            <a:r>
              <a:rPr lang="en-US" sz="30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Aplicación Web Responsive para unificar el desarrollo.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3164" y="-46967"/>
            <a:ext cx="8881673" cy="1308463"/>
            <a:chOff x="0" y="0"/>
            <a:chExt cx="4267986" cy="628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67986" cy="628767"/>
            </a:xfrm>
            <a:custGeom>
              <a:avLst/>
              <a:gdLst/>
              <a:ahLst/>
              <a:cxnLst/>
              <a:rect r="r" b="b" t="t" l="l"/>
              <a:pathLst>
                <a:path h="628767" w="4267986">
                  <a:moveTo>
                    <a:pt x="0" y="0"/>
                  </a:moveTo>
                  <a:lnTo>
                    <a:pt x="4267986" y="0"/>
                  </a:lnTo>
                  <a:lnTo>
                    <a:pt x="4267986" y="628767"/>
                  </a:lnTo>
                  <a:lnTo>
                    <a:pt x="0" y="62876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4268" y="1742276"/>
            <a:ext cx="5060948" cy="3179653"/>
          </a:xfrm>
          <a:custGeom>
            <a:avLst/>
            <a:gdLst/>
            <a:ahLst/>
            <a:cxnLst/>
            <a:rect r="r" b="b" t="t" l="l"/>
            <a:pathLst>
              <a:path h="3179653" w="5060948">
                <a:moveTo>
                  <a:pt x="0" y="0"/>
                </a:moveTo>
                <a:lnTo>
                  <a:pt x="5060948" y="0"/>
                </a:lnTo>
                <a:lnTo>
                  <a:pt x="5060948" y="3179653"/>
                </a:lnTo>
                <a:lnTo>
                  <a:pt x="0" y="317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69" t="-14628" r="-9306" b="-11776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82686" y="6986004"/>
            <a:ext cx="5292530" cy="2898290"/>
          </a:xfrm>
          <a:custGeom>
            <a:avLst/>
            <a:gdLst/>
            <a:ahLst/>
            <a:cxnLst/>
            <a:rect r="r" b="b" t="t" l="l"/>
            <a:pathLst>
              <a:path h="2898290" w="5292530">
                <a:moveTo>
                  <a:pt x="0" y="0"/>
                </a:moveTo>
                <a:lnTo>
                  <a:pt x="5292530" y="0"/>
                </a:lnTo>
                <a:lnTo>
                  <a:pt x="5292530" y="2898290"/>
                </a:lnTo>
                <a:lnTo>
                  <a:pt x="0" y="2898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83" t="-6676" r="-4101" b="-8331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964729" y="2858712"/>
            <a:ext cx="4026497" cy="5008569"/>
          </a:xfrm>
          <a:custGeom>
            <a:avLst/>
            <a:gdLst/>
            <a:ahLst/>
            <a:cxnLst/>
            <a:rect r="r" b="b" t="t" l="l"/>
            <a:pathLst>
              <a:path h="5008569" w="4026497">
                <a:moveTo>
                  <a:pt x="0" y="0"/>
                </a:moveTo>
                <a:lnTo>
                  <a:pt x="4026497" y="0"/>
                </a:lnTo>
                <a:lnTo>
                  <a:pt x="4026497" y="5008569"/>
                </a:lnTo>
                <a:lnTo>
                  <a:pt x="0" y="500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320157" y="1261497"/>
            <a:ext cx="3939143" cy="4650730"/>
          </a:xfrm>
          <a:custGeom>
            <a:avLst/>
            <a:gdLst/>
            <a:ahLst/>
            <a:cxnLst/>
            <a:rect r="r" b="b" t="t" l="l"/>
            <a:pathLst>
              <a:path h="4650730" w="3939143">
                <a:moveTo>
                  <a:pt x="0" y="0"/>
                </a:moveTo>
                <a:lnTo>
                  <a:pt x="3939143" y="0"/>
                </a:lnTo>
                <a:lnTo>
                  <a:pt x="3939143" y="4650730"/>
                </a:lnTo>
                <a:lnTo>
                  <a:pt x="0" y="465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082084" y="6986004"/>
            <a:ext cx="5378234" cy="2898290"/>
          </a:xfrm>
          <a:custGeom>
            <a:avLst/>
            <a:gdLst/>
            <a:ahLst/>
            <a:cxnLst/>
            <a:rect r="r" b="b" t="t" l="l"/>
            <a:pathLst>
              <a:path h="2898290" w="5378234">
                <a:moveTo>
                  <a:pt x="0" y="0"/>
                </a:moveTo>
                <a:lnTo>
                  <a:pt x="5378234" y="0"/>
                </a:lnTo>
                <a:lnTo>
                  <a:pt x="5378234" y="2898290"/>
                </a:lnTo>
                <a:lnTo>
                  <a:pt x="0" y="2898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719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9" id="9"/>
          <p:cNvSpPr txBox="true"/>
          <p:nvPr/>
        </p:nvSpPr>
        <p:spPr>
          <a:xfrm rot="0">
            <a:off x="5229980" y="-114300"/>
            <a:ext cx="8410873" cy="102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60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Componentes claves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10722618">
            <a:off x="-2795723" y="-1124071"/>
            <a:ext cx="6356817" cy="5732693"/>
          </a:xfrm>
          <a:custGeom>
            <a:avLst/>
            <a:gdLst/>
            <a:ahLst/>
            <a:cxnLst/>
            <a:rect r="r" b="b" t="t" l="l"/>
            <a:pathLst>
              <a:path h="5732693" w="6356817">
                <a:moveTo>
                  <a:pt x="6356817" y="0"/>
                </a:moveTo>
                <a:lnTo>
                  <a:pt x="0" y="0"/>
                </a:lnTo>
                <a:lnTo>
                  <a:pt x="0" y="5732694"/>
                </a:lnTo>
                <a:lnTo>
                  <a:pt x="6356817" y="5732694"/>
                </a:lnTo>
                <a:lnTo>
                  <a:pt x="63568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48022" y="-963241"/>
            <a:ext cx="1506621" cy="11288817"/>
            <a:chOff x="0" y="0"/>
            <a:chExt cx="396806" cy="2973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6806" cy="2973186"/>
            </a:xfrm>
            <a:custGeom>
              <a:avLst/>
              <a:gdLst/>
              <a:ahLst/>
              <a:cxnLst/>
              <a:rect r="r" b="b" t="t" l="l"/>
              <a:pathLst>
                <a:path h="2973186" w="396806">
                  <a:moveTo>
                    <a:pt x="0" y="0"/>
                  </a:moveTo>
                  <a:lnTo>
                    <a:pt x="396806" y="0"/>
                  </a:lnTo>
                  <a:lnTo>
                    <a:pt x="396806" y="2973186"/>
                  </a:lnTo>
                  <a:lnTo>
                    <a:pt x="0" y="2973186"/>
                  </a:lnTo>
                  <a:close/>
                </a:path>
              </a:pathLst>
            </a:custGeom>
            <a:solidFill>
              <a:srgbClr val="A1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96806" cy="30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19838" y="-963241"/>
            <a:ext cx="1070178" cy="5982540"/>
            <a:chOff x="0" y="0"/>
            <a:chExt cx="281858" cy="157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858" cy="1575648"/>
            </a:xfrm>
            <a:custGeom>
              <a:avLst/>
              <a:gdLst/>
              <a:ahLst/>
              <a:cxnLst/>
              <a:rect r="r" b="b" t="t" l="l"/>
              <a:pathLst>
                <a:path h="1575648" w="281858">
                  <a:moveTo>
                    <a:pt x="0" y="0"/>
                  </a:moveTo>
                  <a:lnTo>
                    <a:pt x="281858" y="0"/>
                  </a:lnTo>
                  <a:lnTo>
                    <a:pt x="281858" y="1575648"/>
                  </a:lnTo>
                  <a:lnTo>
                    <a:pt x="0" y="1575648"/>
                  </a:lnTo>
                  <a:close/>
                </a:path>
              </a:pathLst>
            </a:custGeom>
            <a:solidFill>
              <a:srgbClr val="003F7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1858" cy="162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732027" y="5019299"/>
            <a:ext cx="287811" cy="5982540"/>
            <a:chOff x="0" y="0"/>
            <a:chExt cx="75802" cy="1575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802" cy="1575648"/>
            </a:xfrm>
            <a:custGeom>
              <a:avLst/>
              <a:gdLst/>
              <a:ahLst/>
              <a:cxnLst/>
              <a:rect r="r" b="b" t="t" l="l"/>
              <a:pathLst>
                <a:path h="1575648" w="75802">
                  <a:moveTo>
                    <a:pt x="0" y="0"/>
                  </a:moveTo>
                  <a:lnTo>
                    <a:pt x="75802" y="0"/>
                  </a:lnTo>
                  <a:lnTo>
                    <a:pt x="75802" y="1575648"/>
                  </a:lnTo>
                  <a:lnTo>
                    <a:pt x="0" y="1575648"/>
                  </a:lnTo>
                  <a:close/>
                </a:path>
              </a:pathLst>
            </a:custGeom>
            <a:solidFill>
              <a:srgbClr val="003F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5802" cy="162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641862" y="-1962570"/>
            <a:ext cx="377976" cy="5982540"/>
            <a:chOff x="0" y="0"/>
            <a:chExt cx="99549" cy="15756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549" cy="1575648"/>
            </a:xfrm>
            <a:custGeom>
              <a:avLst/>
              <a:gdLst/>
              <a:ahLst/>
              <a:cxnLst/>
              <a:rect r="r" b="b" t="t" l="l"/>
              <a:pathLst>
                <a:path h="1575648" w="99549">
                  <a:moveTo>
                    <a:pt x="0" y="0"/>
                  </a:moveTo>
                  <a:lnTo>
                    <a:pt x="99549" y="0"/>
                  </a:lnTo>
                  <a:lnTo>
                    <a:pt x="99549" y="1575648"/>
                  </a:lnTo>
                  <a:lnTo>
                    <a:pt x="0" y="157564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9549" cy="162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648022" y="1308205"/>
            <a:ext cx="316793" cy="4777621"/>
            <a:chOff x="0" y="0"/>
            <a:chExt cx="83435" cy="12583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435" cy="1258303"/>
            </a:xfrm>
            <a:custGeom>
              <a:avLst/>
              <a:gdLst/>
              <a:ahLst/>
              <a:cxnLst/>
              <a:rect r="r" b="b" t="t" l="l"/>
              <a:pathLst>
                <a:path h="1258303" w="83435">
                  <a:moveTo>
                    <a:pt x="0" y="0"/>
                  </a:moveTo>
                  <a:lnTo>
                    <a:pt x="83435" y="0"/>
                  </a:lnTo>
                  <a:lnTo>
                    <a:pt x="83435" y="1258303"/>
                  </a:lnTo>
                  <a:lnTo>
                    <a:pt x="0" y="1258303"/>
                  </a:lnTo>
                  <a:close/>
                </a:path>
              </a:pathLst>
            </a:custGeom>
            <a:solidFill>
              <a:srgbClr val="A1CC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3435" cy="1305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3040375" y="3032819"/>
            <a:ext cx="8138151" cy="3972960"/>
            <a:chOff x="0" y="0"/>
            <a:chExt cx="3904848" cy="19063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4848" cy="1906306"/>
            </a:xfrm>
            <a:custGeom>
              <a:avLst/>
              <a:gdLst/>
              <a:ahLst/>
              <a:cxnLst/>
              <a:rect r="r" b="b" t="t" l="l"/>
              <a:pathLst>
                <a:path h="1906306" w="3904848">
                  <a:moveTo>
                    <a:pt x="0" y="0"/>
                  </a:moveTo>
                  <a:lnTo>
                    <a:pt x="3904848" y="0"/>
                  </a:lnTo>
                  <a:lnTo>
                    <a:pt x="3904848" y="1906306"/>
                  </a:lnTo>
                  <a:lnTo>
                    <a:pt x="0" y="1906306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5801777" y="68827"/>
            <a:ext cx="6684446" cy="10256749"/>
          </a:xfrm>
          <a:custGeom>
            <a:avLst/>
            <a:gdLst/>
            <a:ahLst/>
            <a:cxnLst/>
            <a:rect r="r" b="b" t="t" l="l"/>
            <a:pathLst>
              <a:path h="10256749" w="6684446">
                <a:moveTo>
                  <a:pt x="0" y="0"/>
                </a:moveTo>
                <a:lnTo>
                  <a:pt x="6684446" y="0"/>
                </a:lnTo>
                <a:lnTo>
                  <a:pt x="6684446" y="10256749"/>
                </a:lnTo>
                <a:lnTo>
                  <a:pt x="0" y="1025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98" t="0" r="-64574" b="-3722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20" id="20"/>
          <p:cNvSpPr txBox="true"/>
          <p:nvPr/>
        </p:nvSpPr>
        <p:spPr>
          <a:xfrm rot="0">
            <a:off x="-228677" y="4262696"/>
            <a:ext cx="5922443" cy="178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4"/>
              </a:lnSpc>
            </a:pPr>
            <a:r>
              <a:rPr lang="en-US" sz="6055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</a:t>
            </a:r>
          </a:p>
          <a:p>
            <a:pPr algn="ctr">
              <a:lnSpc>
                <a:spcPts val="7024"/>
              </a:lnSpc>
            </a:pPr>
            <a:r>
              <a:rPr lang="en-US" b="true" sz="6055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tecnológico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375" y="125567"/>
            <a:ext cx="17857250" cy="10161433"/>
          </a:xfrm>
          <a:custGeom>
            <a:avLst/>
            <a:gdLst/>
            <a:ahLst/>
            <a:cxnLst/>
            <a:rect r="r" b="b" t="t" l="l"/>
            <a:pathLst>
              <a:path h="10161433" w="17857250">
                <a:moveTo>
                  <a:pt x="0" y="0"/>
                </a:moveTo>
                <a:lnTo>
                  <a:pt x="17857250" y="0"/>
                </a:lnTo>
                <a:lnTo>
                  <a:pt x="17857250" y="10161433"/>
                </a:lnTo>
                <a:lnTo>
                  <a:pt x="0" y="10161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t="-155" r="0" b="-444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0202" y="-150248"/>
            <a:ext cx="7740367" cy="989364"/>
            <a:chOff x="0" y="0"/>
            <a:chExt cx="3904848" cy="499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4848" cy="499113"/>
            </a:xfrm>
            <a:custGeom>
              <a:avLst/>
              <a:gdLst/>
              <a:ahLst/>
              <a:cxnLst/>
              <a:rect r="r" b="b" t="t" l="l"/>
              <a:pathLst>
                <a:path h="499113" w="3904848">
                  <a:moveTo>
                    <a:pt x="0" y="0"/>
                  </a:moveTo>
                  <a:lnTo>
                    <a:pt x="3904848" y="0"/>
                  </a:lnTo>
                  <a:lnTo>
                    <a:pt x="3904848" y="499113"/>
                  </a:lnTo>
                  <a:lnTo>
                    <a:pt x="0" y="499113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5670096" y="7825127"/>
            <a:ext cx="3178409" cy="2866347"/>
          </a:xfrm>
          <a:custGeom>
            <a:avLst/>
            <a:gdLst/>
            <a:ahLst/>
            <a:cxnLst/>
            <a:rect r="r" b="b" t="t" l="l"/>
            <a:pathLst>
              <a:path h="2866347" w="3178409">
                <a:moveTo>
                  <a:pt x="3178408" y="0"/>
                </a:moveTo>
                <a:lnTo>
                  <a:pt x="0" y="0"/>
                </a:lnTo>
                <a:lnTo>
                  <a:pt x="0" y="2866346"/>
                </a:lnTo>
                <a:lnTo>
                  <a:pt x="3178408" y="2866346"/>
                </a:lnTo>
                <a:lnTo>
                  <a:pt x="31784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675" y="1028700"/>
            <a:ext cx="17972650" cy="8229600"/>
          </a:xfrm>
          <a:custGeom>
            <a:avLst/>
            <a:gdLst/>
            <a:ahLst/>
            <a:cxnLst/>
            <a:rect r="r" b="b" t="t" l="l"/>
            <a:pathLst>
              <a:path h="8229600" w="17972650">
                <a:moveTo>
                  <a:pt x="0" y="0"/>
                </a:moveTo>
                <a:lnTo>
                  <a:pt x="17972650" y="0"/>
                </a:lnTo>
                <a:lnTo>
                  <a:pt x="179726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9" t="0" r="-1019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-4833969" y="28575"/>
            <a:ext cx="13977969" cy="8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b="true" sz="5552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Operacional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8316" y="-336006"/>
            <a:ext cx="6846165" cy="1175121"/>
            <a:chOff x="0" y="0"/>
            <a:chExt cx="3284927" cy="5638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4927" cy="563847"/>
            </a:xfrm>
            <a:custGeom>
              <a:avLst/>
              <a:gdLst/>
              <a:ahLst/>
              <a:cxnLst/>
              <a:rect r="r" b="b" t="t" l="l"/>
              <a:pathLst>
                <a:path h="563847" w="3284927">
                  <a:moveTo>
                    <a:pt x="0" y="0"/>
                  </a:moveTo>
                  <a:lnTo>
                    <a:pt x="3284927" y="0"/>
                  </a:lnTo>
                  <a:lnTo>
                    <a:pt x="3284927" y="563847"/>
                  </a:lnTo>
                  <a:lnTo>
                    <a:pt x="0" y="56384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5670096" y="7825127"/>
            <a:ext cx="3178409" cy="2866347"/>
          </a:xfrm>
          <a:custGeom>
            <a:avLst/>
            <a:gdLst/>
            <a:ahLst/>
            <a:cxnLst/>
            <a:rect r="r" b="b" t="t" l="l"/>
            <a:pathLst>
              <a:path h="2866347" w="3178409">
                <a:moveTo>
                  <a:pt x="3178408" y="0"/>
                </a:moveTo>
                <a:lnTo>
                  <a:pt x="0" y="0"/>
                </a:lnTo>
                <a:lnTo>
                  <a:pt x="0" y="2866346"/>
                </a:lnTo>
                <a:lnTo>
                  <a:pt x="3178408" y="2866346"/>
                </a:lnTo>
                <a:lnTo>
                  <a:pt x="31784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0480" y="839115"/>
            <a:ext cx="15584140" cy="9447885"/>
          </a:xfrm>
          <a:custGeom>
            <a:avLst/>
            <a:gdLst/>
            <a:ahLst/>
            <a:cxnLst/>
            <a:rect r="r" b="b" t="t" l="l"/>
            <a:pathLst>
              <a:path h="9447885" w="15584140">
                <a:moveTo>
                  <a:pt x="0" y="0"/>
                </a:moveTo>
                <a:lnTo>
                  <a:pt x="15584140" y="0"/>
                </a:lnTo>
                <a:lnTo>
                  <a:pt x="15584140" y="9447885"/>
                </a:lnTo>
                <a:lnTo>
                  <a:pt x="0" y="944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-5102117" y="28575"/>
            <a:ext cx="13977969" cy="8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b="true" sz="5552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Desarrollo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8163" y="60590"/>
            <a:ext cx="8365111" cy="10165820"/>
          </a:xfrm>
          <a:custGeom>
            <a:avLst/>
            <a:gdLst/>
            <a:ahLst/>
            <a:cxnLst/>
            <a:rect r="r" b="b" t="t" l="l"/>
            <a:pathLst>
              <a:path h="10165820" w="8365111">
                <a:moveTo>
                  <a:pt x="0" y="0"/>
                </a:moveTo>
                <a:lnTo>
                  <a:pt x="8365112" y="0"/>
                </a:lnTo>
                <a:lnTo>
                  <a:pt x="8365112" y="10165820"/>
                </a:lnTo>
                <a:lnTo>
                  <a:pt x="0" y="10165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-2612660" y="3632374"/>
            <a:ext cx="8138151" cy="3022253"/>
            <a:chOff x="0" y="0"/>
            <a:chExt cx="3904848" cy="1450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4848" cy="1450138"/>
            </a:xfrm>
            <a:custGeom>
              <a:avLst/>
              <a:gdLst/>
              <a:ahLst/>
              <a:cxnLst/>
              <a:rect r="r" b="b" t="t" l="l"/>
              <a:pathLst>
                <a:path h="1450138" w="3904848">
                  <a:moveTo>
                    <a:pt x="0" y="0"/>
                  </a:moveTo>
                  <a:lnTo>
                    <a:pt x="3904848" y="0"/>
                  </a:lnTo>
                  <a:lnTo>
                    <a:pt x="3904848" y="1450138"/>
                  </a:lnTo>
                  <a:lnTo>
                    <a:pt x="0" y="1450138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4413011" y="3968481"/>
            <a:ext cx="13977969" cy="243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5552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Árbol de </a:t>
            </a:r>
          </a:p>
          <a:p>
            <a:pPr algn="ctr">
              <a:lnSpc>
                <a:spcPts val="6440"/>
              </a:lnSpc>
            </a:pPr>
            <a:r>
              <a:rPr lang="en-US" sz="5552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dependencias</a:t>
            </a:r>
          </a:p>
          <a:p>
            <a:pPr algn="ctr">
              <a:lnSpc>
                <a:spcPts val="6440"/>
              </a:lnSpc>
            </a:pPr>
            <a:r>
              <a:rPr lang="en-US" b="true" sz="5552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Terraform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5670096" y="7825127"/>
            <a:ext cx="3178409" cy="2866347"/>
          </a:xfrm>
          <a:custGeom>
            <a:avLst/>
            <a:gdLst/>
            <a:ahLst/>
            <a:cxnLst/>
            <a:rect r="r" b="b" t="t" l="l"/>
            <a:pathLst>
              <a:path h="2866347" w="3178409">
                <a:moveTo>
                  <a:pt x="3178408" y="0"/>
                </a:moveTo>
                <a:lnTo>
                  <a:pt x="0" y="0"/>
                </a:lnTo>
                <a:lnTo>
                  <a:pt x="0" y="2866346"/>
                </a:lnTo>
                <a:lnTo>
                  <a:pt x="3178408" y="2866346"/>
                </a:lnTo>
                <a:lnTo>
                  <a:pt x="317840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0178" y="117341"/>
            <a:ext cx="14965490" cy="10052319"/>
          </a:xfrm>
          <a:custGeom>
            <a:avLst/>
            <a:gdLst/>
            <a:ahLst/>
            <a:cxnLst/>
            <a:rect r="r" b="b" t="t" l="l"/>
            <a:pathLst>
              <a:path h="10052319" w="14965490">
                <a:moveTo>
                  <a:pt x="0" y="0"/>
                </a:moveTo>
                <a:lnTo>
                  <a:pt x="14965490" y="0"/>
                </a:lnTo>
                <a:lnTo>
                  <a:pt x="14965490" y="10052318"/>
                </a:lnTo>
                <a:lnTo>
                  <a:pt x="0" y="1005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7" t="-1878" r="-1262" b="-17423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-708867" y="4113227"/>
            <a:ext cx="3475135" cy="1591877"/>
            <a:chOff x="0" y="0"/>
            <a:chExt cx="1967019" cy="9010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7019" cy="901045"/>
            </a:xfrm>
            <a:custGeom>
              <a:avLst/>
              <a:gdLst/>
              <a:ahLst/>
              <a:cxnLst/>
              <a:rect r="r" b="b" t="t" l="l"/>
              <a:pathLst>
                <a:path h="901045" w="1967019">
                  <a:moveTo>
                    <a:pt x="0" y="0"/>
                  </a:moveTo>
                  <a:lnTo>
                    <a:pt x="1967019" y="0"/>
                  </a:lnTo>
                  <a:lnTo>
                    <a:pt x="1967019" y="901045"/>
                  </a:lnTo>
                  <a:lnTo>
                    <a:pt x="0" y="901045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61593" y="4122752"/>
            <a:ext cx="2827860" cy="16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89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BPMN</a:t>
            </a:r>
          </a:p>
          <a:p>
            <a:pPr algn="ctr">
              <a:lnSpc>
                <a:spcPts val="3354"/>
              </a:lnSpc>
            </a:pPr>
            <a:r>
              <a:rPr lang="en-US" sz="289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Ingesta ﻿de</a:t>
            </a:r>
          </a:p>
          <a:p>
            <a:pPr algn="ctr">
              <a:lnSpc>
                <a:spcPts val="3354"/>
              </a:lnSpc>
            </a:pPr>
            <a:r>
              <a:rPr lang="en-US" sz="289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Datos</a:t>
            </a:r>
          </a:p>
          <a:p>
            <a:pPr algn="ctr">
              <a:lnSpc>
                <a:spcPts val="335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3811" y="147318"/>
            <a:ext cx="14863739" cy="10139682"/>
          </a:xfrm>
          <a:custGeom>
            <a:avLst/>
            <a:gdLst/>
            <a:ahLst/>
            <a:cxnLst/>
            <a:rect r="r" b="b" t="t" l="l"/>
            <a:pathLst>
              <a:path h="10139682" w="14863739">
                <a:moveTo>
                  <a:pt x="0" y="0"/>
                </a:moveTo>
                <a:lnTo>
                  <a:pt x="14863740" y="0"/>
                </a:lnTo>
                <a:lnTo>
                  <a:pt x="14863740" y="10139682"/>
                </a:lnTo>
                <a:lnTo>
                  <a:pt x="0" y="10139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6" t="-6145" r="-488" b="-16413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-1001392" y="3096086"/>
            <a:ext cx="4032522" cy="2759683"/>
            <a:chOff x="0" y="0"/>
            <a:chExt cx="2038684" cy="1395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8684" cy="1395187"/>
            </a:xfrm>
            <a:custGeom>
              <a:avLst/>
              <a:gdLst/>
              <a:ahLst/>
              <a:cxnLst/>
              <a:rect r="r" b="b" t="t" l="l"/>
              <a:pathLst>
                <a:path h="1395187" w="2038684">
                  <a:moveTo>
                    <a:pt x="0" y="0"/>
                  </a:moveTo>
                  <a:lnTo>
                    <a:pt x="2038684" y="0"/>
                  </a:lnTo>
                  <a:lnTo>
                    <a:pt x="2038684" y="1395187"/>
                  </a:lnTo>
                  <a:lnTo>
                    <a:pt x="0" y="1395187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1125427" y="3284113"/>
            <a:ext cx="5047873" cy="301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7"/>
              </a:lnSpc>
            </a:pPr>
            <a:r>
              <a:rPr lang="en-US" sz="516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BPMN</a:t>
            </a:r>
          </a:p>
          <a:p>
            <a:pPr algn="ctr">
              <a:lnSpc>
                <a:spcPts val="5987"/>
              </a:lnSpc>
            </a:pPr>
            <a:r>
              <a:rPr lang="en-US" sz="516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Proceso</a:t>
            </a:r>
          </a:p>
          <a:p>
            <a:pPr algn="ctr">
              <a:lnSpc>
                <a:spcPts val="5987"/>
              </a:lnSpc>
            </a:pPr>
            <a:r>
              <a:rPr lang="en-US" sz="5161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OCR</a:t>
            </a:r>
          </a:p>
          <a:p>
            <a:pPr algn="ctr">
              <a:lnSpc>
                <a:spcPts val="5987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95" y="2374689"/>
            <a:ext cx="17757653" cy="7742756"/>
          </a:xfrm>
          <a:custGeom>
            <a:avLst/>
            <a:gdLst/>
            <a:ahLst/>
            <a:cxnLst/>
            <a:rect r="r" b="b" t="t" l="l"/>
            <a:pathLst>
              <a:path h="7742756" w="17757653">
                <a:moveTo>
                  <a:pt x="0" y="0"/>
                </a:moveTo>
                <a:lnTo>
                  <a:pt x="17757653" y="0"/>
                </a:lnTo>
                <a:lnTo>
                  <a:pt x="17757653" y="7742756"/>
                </a:lnTo>
                <a:lnTo>
                  <a:pt x="0" y="7742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9" t="-4895" r="-5646" b="-31221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-318834" y="0"/>
            <a:ext cx="3964824" cy="1899629"/>
            <a:chOff x="0" y="0"/>
            <a:chExt cx="1967019" cy="9424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7019" cy="942439"/>
            </a:xfrm>
            <a:custGeom>
              <a:avLst/>
              <a:gdLst/>
              <a:ahLst/>
              <a:cxnLst/>
              <a:rect r="r" b="b" t="t" l="l"/>
              <a:pathLst>
                <a:path h="942439" w="1967019">
                  <a:moveTo>
                    <a:pt x="0" y="0"/>
                  </a:moveTo>
                  <a:lnTo>
                    <a:pt x="1967019" y="0"/>
                  </a:lnTo>
                  <a:lnTo>
                    <a:pt x="1967019" y="942439"/>
                  </a:lnTo>
                  <a:lnTo>
                    <a:pt x="0" y="942439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1395" y="19050"/>
            <a:ext cx="3860928" cy="230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</a:pPr>
            <a:r>
              <a:rPr lang="en-US" sz="3947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BPMN </a:t>
            </a:r>
          </a:p>
          <a:p>
            <a:pPr algn="ctr">
              <a:lnSpc>
                <a:spcPts val="4579"/>
              </a:lnSpc>
            </a:pPr>
            <a:r>
              <a:rPr lang="en-US" sz="3947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Proceso de </a:t>
            </a:r>
          </a:p>
          <a:p>
            <a:pPr algn="ctr">
              <a:lnSpc>
                <a:spcPts val="4579"/>
              </a:lnSpc>
            </a:pPr>
            <a:r>
              <a:rPr lang="en-US" sz="3947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Alertas</a:t>
            </a:r>
          </a:p>
          <a:p>
            <a:pPr algn="ctr">
              <a:lnSpc>
                <a:spcPts val="45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2530" y="32136"/>
            <a:ext cx="14493033" cy="10222729"/>
          </a:xfrm>
          <a:custGeom>
            <a:avLst/>
            <a:gdLst/>
            <a:ahLst/>
            <a:cxnLst/>
            <a:rect r="r" b="b" t="t" l="l"/>
            <a:pathLst>
              <a:path h="10222729" w="14493033">
                <a:moveTo>
                  <a:pt x="0" y="0"/>
                </a:moveTo>
                <a:lnTo>
                  <a:pt x="14493033" y="0"/>
                </a:lnTo>
                <a:lnTo>
                  <a:pt x="14493033" y="10222728"/>
                </a:lnTo>
                <a:lnTo>
                  <a:pt x="0" y="10222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8" t="-26718" r="-3131" b="-32994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-562605" y="4201299"/>
            <a:ext cx="3475135" cy="2517788"/>
            <a:chOff x="0" y="0"/>
            <a:chExt cx="1967019" cy="1425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7019" cy="1425135"/>
            </a:xfrm>
            <a:custGeom>
              <a:avLst/>
              <a:gdLst/>
              <a:ahLst/>
              <a:cxnLst/>
              <a:rect r="r" b="b" t="t" l="l"/>
              <a:pathLst>
                <a:path h="1425135" w="1967019">
                  <a:moveTo>
                    <a:pt x="0" y="0"/>
                  </a:moveTo>
                  <a:lnTo>
                    <a:pt x="1967019" y="0"/>
                  </a:lnTo>
                  <a:lnTo>
                    <a:pt x="1967019" y="1425135"/>
                  </a:lnTo>
                  <a:lnTo>
                    <a:pt x="0" y="1425135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902176" y="4434345"/>
            <a:ext cx="4541197" cy="271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6"/>
              </a:lnSpc>
            </a:pPr>
            <a:r>
              <a:rPr lang="en-US" sz="4643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BPMN</a:t>
            </a:r>
          </a:p>
          <a:p>
            <a:pPr algn="ctr">
              <a:lnSpc>
                <a:spcPts val="5386"/>
              </a:lnSpc>
            </a:pPr>
            <a:r>
              <a:rPr lang="en-US" sz="4643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Proceso</a:t>
            </a:r>
          </a:p>
          <a:p>
            <a:pPr algn="ctr">
              <a:lnSpc>
                <a:spcPts val="5386"/>
              </a:lnSpc>
            </a:pPr>
            <a:r>
              <a:rPr lang="en-US" sz="4643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ETL</a:t>
            </a:r>
          </a:p>
          <a:p>
            <a:pPr algn="ctr">
              <a:lnSpc>
                <a:spcPts val="538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304" y="4114115"/>
            <a:ext cx="7293392" cy="2908115"/>
            <a:chOff x="0" y="0"/>
            <a:chExt cx="3009588" cy="1200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9588" cy="1200021"/>
            </a:xfrm>
            <a:custGeom>
              <a:avLst/>
              <a:gdLst/>
              <a:ahLst/>
              <a:cxnLst/>
              <a:rect r="r" b="b" t="t" l="l"/>
              <a:pathLst>
                <a:path h="1200021" w="3009588">
                  <a:moveTo>
                    <a:pt x="0" y="0"/>
                  </a:moveTo>
                  <a:lnTo>
                    <a:pt x="3009588" y="0"/>
                  </a:lnTo>
                  <a:lnTo>
                    <a:pt x="3009588" y="1200021"/>
                  </a:lnTo>
                  <a:lnTo>
                    <a:pt x="0" y="1200021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-4269046" y="4375921"/>
            <a:ext cx="15470793" cy="240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2"/>
              </a:lnSpc>
            </a:pPr>
            <a:r>
              <a:rPr lang="en-US" sz="8140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Experiencia </a:t>
            </a:r>
          </a:p>
          <a:p>
            <a:pPr algn="ctr">
              <a:lnSpc>
                <a:spcPts val="9442"/>
              </a:lnSpc>
            </a:pPr>
            <a:r>
              <a:rPr lang="en-US" b="true" sz="8140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TrueStock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72265" y="8253276"/>
            <a:ext cx="2874819" cy="51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9"/>
              </a:lnSpc>
            </a:pPr>
            <a:r>
              <a:rPr lang="en-US" sz="3035" u="sng">
                <a:solidFill>
                  <a:srgbClr val="F6F6F6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d9ll783ij6lm4.cloudfront.net"/>
              </a:rPr>
              <a:t>Házme Click 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96660" y="2561625"/>
            <a:ext cx="9150423" cy="5486205"/>
          </a:xfrm>
          <a:custGeom>
            <a:avLst/>
            <a:gdLst/>
            <a:ahLst/>
            <a:cxnLst/>
            <a:rect r="r" b="b" t="t" l="l"/>
            <a:pathLst>
              <a:path h="5486205" w="9150423">
                <a:moveTo>
                  <a:pt x="0" y="0"/>
                </a:moveTo>
                <a:lnTo>
                  <a:pt x="9150424" y="0"/>
                </a:lnTo>
                <a:lnTo>
                  <a:pt x="9150424" y="5486205"/>
                </a:lnTo>
                <a:lnTo>
                  <a:pt x="0" y="548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757" y="-329263"/>
            <a:ext cx="7570486" cy="1738140"/>
            <a:chOff x="0" y="0"/>
            <a:chExt cx="4285097" cy="983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5097" cy="983833"/>
            </a:xfrm>
            <a:custGeom>
              <a:avLst/>
              <a:gdLst/>
              <a:ahLst/>
              <a:cxnLst/>
              <a:rect r="r" b="b" t="t" l="l"/>
              <a:pathLst>
                <a:path h="983833" w="4285097">
                  <a:moveTo>
                    <a:pt x="0" y="0"/>
                  </a:moveTo>
                  <a:lnTo>
                    <a:pt x="4285097" y="0"/>
                  </a:lnTo>
                  <a:lnTo>
                    <a:pt x="4285097" y="983833"/>
                  </a:lnTo>
                  <a:lnTo>
                    <a:pt x="0" y="983833"/>
                  </a:lnTo>
                  <a:close/>
                </a:path>
              </a:pathLst>
            </a:custGeom>
            <a:solidFill>
              <a:srgbClr val="003F7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30172" y="-329263"/>
            <a:ext cx="3200698" cy="11288817"/>
            <a:chOff x="0" y="0"/>
            <a:chExt cx="842982" cy="2973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2982" cy="2973186"/>
            </a:xfrm>
            <a:custGeom>
              <a:avLst/>
              <a:gdLst/>
              <a:ahLst/>
              <a:cxnLst/>
              <a:rect r="r" b="b" t="t" l="l"/>
              <a:pathLst>
                <a:path h="2973186" w="842982">
                  <a:moveTo>
                    <a:pt x="0" y="0"/>
                  </a:moveTo>
                  <a:lnTo>
                    <a:pt x="842982" y="0"/>
                  </a:lnTo>
                  <a:lnTo>
                    <a:pt x="842982" y="2973186"/>
                  </a:lnTo>
                  <a:lnTo>
                    <a:pt x="0" y="2973186"/>
                  </a:lnTo>
                  <a:close/>
                </a:path>
              </a:pathLst>
            </a:custGeom>
            <a:solidFill>
              <a:srgbClr val="A1CC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42982" cy="30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32103" y="-418609"/>
            <a:ext cx="802869" cy="5982540"/>
            <a:chOff x="0" y="0"/>
            <a:chExt cx="211455" cy="15756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455" cy="1575648"/>
            </a:xfrm>
            <a:custGeom>
              <a:avLst/>
              <a:gdLst/>
              <a:ahLst/>
              <a:cxnLst/>
              <a:rect r="r" b="b" t="t" l="l"/>
              <a:pathLst>
                <a:path h="1575648" w="211455">
                  <a:moveTo>
                    <a:pt x="0" y="0"/>
                  </a:moveTo>
                  <a:lnTo>
                    <a:pt x="211455" y="0"/>
                  </a:lnTo>
                  <a:lnTo>
                    <a:pt x="211455" y="1575648"/>
                  </a:lnTo>
                  <a:lnTo>
                    <a:pt x="0" y="1575648"/>
                  </a:lnTo>
                  <a:close/>
                </a:path>
              </a:pathLst>
            </a:custGeom>
            <a:solidFill>
              <a:srgbClr val="003F7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1455" cy="162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60448" y="-2991270"/>
            <a:ext cx="546178" cy="5982540"/>
            <a:chOff x="0" y="0"/>
            <a:chExt cx="143849" cy="1575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849" cy="1575648"/>
            </a:xfrm>
            <a:custGeom>
              <a:avLst/>
              <a:gdLst/>
              <a:ahLst/>
              <a:cxnLst/>
              <a:rect r="r" b="b" t="t" l="l"/>
              <a:pathLst>
                <a:path h="1575648" w="143849">
                  <a:moveTo>
                    <a:pt x="0" y="0"/>
                  </a:moveTo>
                  <a:lnTo>
                    <a:pt x="143849" y="0"/>
                  </a:lnTo>
                  <a:lnTo>
                    <a:pt x="143849" y="1575648"/>
                  </a:lnTo>
                  <a:lnTo>
                    <a:pt x="0" y="1575648"/>
                  </a:lnTo>
                  <a:close/>
                </a:path>
              </a:pathLst>
            </a:custGeom>
            <a:solidFill>
              <a:srgbClr val="5180C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3849" cy="162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90459" y="1246952"/>
            <a:ext cx="10507250" cy="700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33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Mejora continua</a:t>
            </a:r>
          </a:p>
          <a:p>
            <a:pPr algn="l">
              <a:lnSpc>
                <a:spcPts val="5614"/>
              </a:lnSpc>
            </a:pP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Aplicación Móvil Nativa.</a:t>
            </a: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Integración directa con sistemas ERP </a:t>
            </a:r>
          </a:p>
          <a:p>
            <a:pPr algn="l">
              <a:lnSpc>
                <a:spcPts val="5614"/>
              </a:lnSpc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o contables.</a:t>
            </a: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Módulo de facturación electrónica </a:t>
            </a: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Modelo predictivo más avanzado (regresión lineal múltiple)</a:t>
            </a: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Soporte multi-idioma o multi-país.</a:t>
            </a:r>
          </a:p>
          <a:p>
            <a:pPr algn="l" marL="725860" indent="-362930" lvl="1">
              <a:lnSpc>
                <a:spcPts val="5614"/>
              </a:lnSpc>
              <a:buFont typeface="Arial"/>
              <a:buChar char="•"/>
            </a:pPr>
            <a:r>
              <a:rPr lang="en-US" sz="33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, controles de seguridad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73610" y="2125698"/>
            <a:ext cx="6328013" cy="6435877"/>
          </a:xfrm>
          <a:custGeom>
            <a:avLst/>
            <a:gdLst/>
            <a:ahLst/>
            <a:cxnLst/>
            <a:rect r="r" b="b" t="t" l="l"/>
            <a:pathLst>
              <a:path h="6435877" w="6328013">
                <a:moveTo>
                  <a:pt x="0" y="0"/>
                </a:moveTo>
                <a:lnTo>
                  <a:pt x="6328013" y="0"/>
                </a:lnTo>
                <a:lnTo>
                  <a:pt x="6328013" y="6435877"/>
                </a:lnTo>
                <a:lnTo>
                  <a:pt x="0" y="6435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21395" y="156161"/>
            <a:ext cx="10645211" cy="104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1"/>
              </a:lnSpc>
            </a:pPr>
            <a:r>
              <a:rPr lang="en-US" b="true" sz="617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Conclusiones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80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31671" y="3418682"/>
            <a:ext cx="7818266" cy="7050654"/>
          </a:xfrm>
          <a:custGeom>
            <a:avLst/>
            <a:gdLst/>
            <a:ahLst/>
            <a:cxnLst/>
            <a:rect r="r" b="b" t="t" l="l"/>
            <a:pathLst>
              <a:path h="7050654" w="7818266">
                <a:moveTo>
                  <a:pt x="0" y="0"/>
                </a:moveTo>
                <a:lnTo>
                  <a:pt x="7818266" y="0"/>
                </a:lnTo>
                <a:lnTo>
                  <a:pt x="7818266" y="7050654"/>
                </a:lnTo>
                <a:lnTo>
                  <a:pt x="0" y="705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7539" y="-463291"/>
            <a:ext cx="13441356" cy="8975083"/>
          </a:xfrm>
          <a:custGeom>
            <a:avLst/>
            <a:gdLst/>
            <a:ahLst/>
            <a:cxnLst/>
            <a:rect r="r" b="b" t="t" l="l"/>
            <a:pathLst>
              <a:path h="8975083" w="13441356">
                <a:moveTo>
                  <a:pt x="0" y="0"/>
                </a:moveTo>
                <a:lnTo>
                  <a:pt x="13441356" y="0"/>
                </a:lnTo>
                <a:lnTo>
                  <a:pt x="13441356" y="8975083"/>
                </a:lnTo>
                <a:lnTo>
                  <a:pt x="0" y="8975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7699" y="2561625"/>
            <a:ext cx="8612602" cy="5163751"/>
          </a:xfrm>
          <a:custGeom>
            <a:avLst/>
            <a:gdLst/>
            <a:ahLst/>
            <a:cxnLst/>
            <a:rect r="r" b="b" t="t" l="l"/>
            <a:pathLst>
              <a:path h="5163751" w="8612602">
                <a:moveTo>
                  <a:pt x="0" y="0"/>
                </a:moveTo>
                <a:lnTo>
                  <a:pt x="8612602" y="0"/>
                </a:lnTo>
                <a:lnTo>
                  <a:pt x="8612602" y="5163750"/>
                </a:lnTo>
                <a:lnTo>
                  <a:pt x="0" y="5163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83327" y="7801575"/>
            <a:ext cx="11618690" cy="247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2"/>
              </a:lnSpc>
            </a:pPr>
            <a:r>
              <a:rPr lang="en-US" sz="8722" b="true">
                <a:solidFill>
                  <a:srgbClr val="F6F6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Gracias </a:t>
            </a:r>
          </a:p>
          <a:p>
            <a:pPr algn="ctr">
              <a:lnSpc>
                <a:spcPts val="968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DAGyMCHotBc</dc:identifier>
  <dcterms:modified xsi:type="dcterms:W3CDTF">2011-08-01T06:04:30Z</dcterms:modified>
  <cp:revision>1</cp:revision>
  <dc:title>TrueStock PPT1</dc:title>
</cp:coreProperties>
</file>